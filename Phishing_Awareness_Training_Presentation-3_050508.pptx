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3233A"/>
          </a:solidFill>
        </p:spPr>
      </p:sp>
      <p:sp>
        <p:nvSpPr>
          <p:cNvPr id="3" name="Shape 1"/>
          <p:cNvSpPr/>
          <p:nvPr/>
        </p:nvSpPr>
        <p:spPr>
          <a:xfrm>
            <a:off x="-1737360" y="4846320"/>
            <a:ext cx="3657600" cy="3657600"/>
          </a:xfrm>
          <a:prstGeom prst="ellipse">
            <a:avLst/>
          </a:prstGeom>
          <a:solidFill>
            <a:srgbClr val="13233A"/>
          </a:solidFill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C"/>
                </a:solidFill>
              </a:rPr>
              <a:t>CYBERSECURITY INTERNSHIP — TASK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Phishing Awareness Training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B0C3"/>
                </a:solidFill>
              </a:rPr>
              <a:t>Recognizing, understanding, and defending against phishing emails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3"/>
                </a:solidFill>
              </a:rPr>
              <a:t>Prepared by: Omoneka Philomena Ekhaizor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3"/>
                </a:solidFill>
              </a:rPr>
              <a:t>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058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CEFF4"/>
                </a:solidFill>
              </a:rPr>
              <a:t>Phishing is a form of social engineering in which an attacker impersonates a trusted person, brand, or organization , usually by email - to trick a victim into revealing sensitive information, clicking a malicious link, or taking an action that benefits the attacker.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10058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0C3"/>
                </a:solidFill>
              </a:rPr>
              <a:t>It remains one of the most common entry points for cyberattacks because it targets people, not just systems — a firewall can't stop someone from being convinced, rushed, or misled.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10058400" cy="1188720"/>
          </a:xfrm>
          <a:prstGeom prst="roundRect">
            <a:avLst>
              <a:gd name="adj" fmla="val 4615"/>
            </a:avLst>
          </a:prstGeom>
          <a:solidFill>
            <a:srgbClr val="13233A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206240"/>
            <a:ext cx="9418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D4A24C"/>
                </a:solidFill>
              </a:rPr>
              <a:t>This training uses two real emails, analyzed with the same forensic checklist, to show exactly what separates a legitimate message from a phishing attempt — not in theory, but in practice.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HUMAN ANGLE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Engineering Tactics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37560" cy="173736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933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Urgency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“Your account will be suspended in 24 hours.” Pressure to act fast short-circuits careful thinking.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3337560" cy="173736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9933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42316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Impersonating a bank, employer, or well-known brand so the request feels legitimate.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337560" cy="173736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0" y="19933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Fear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42316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Threats of account closure, legal trouble, or financial loss to provoke a panicked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337560" cy="173736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00507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Curiosity &amp; reward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43484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Fake prizes, invoices, or “new message” notices designed to be too interesting to ignore.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3840480"/>
            <a:ext cx="3337560" cy="173736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400507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Trust exploitation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43484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Impersonating a colleague, vendor, or someone the recipient already does business with.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840480"/>
            <a:ext cx="3337560" cy="173736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01000" y="400507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Scarcity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43484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“Limited time” or “only 2 spots left” to rush a decision before it can be verified.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502F"/>
          </a:solidFill>
        </p:spPr>
      </p:sp>
      <p:sp>
        <p:nvSpPr>
          <p:cNvPr id="3" name="Shape 1"/>
          <p:cNvSpPr/>
          <p:nvPr/>
        </p:nvSpPr>
        <p:spPr>
          <a:xfrm>
            <a:off x="822960" y="21031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4FBE82"/>
          </a:solidFill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4"/>
                </a:solidFill>
              </a:rPr>
              <a:t>CASE STUDY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Legitimate Email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EAD6"/>
                </a:solidFill>
              </a:rPr>
              <a:t>“Can we keep you in our talent pool?” — a RedCloud recruitment notification sent via Teamtailor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the Recipient Saw</a:t>
            </a:r>
            <a:endParaRPr lang="en-US" sz="2800" dirty="0"/>
          </a:p>
        </p:txBody>
      </p:sp>
      <p:pic>
        <p:nvPicPr>
          <p:cNvPr id="4" name="Image 0" descr="/home/claude/report_imgs/10698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8592" y="1691640"/>
            <a:ext cx="7035777" cy="45720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Made It Legitimate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146304" cy="146304"/>
          </a:xfrm>
          <a:prstGeom prst="ellipse">
            <a:avLst/>
          </a:prstGeom>
          <a:solidFill>
            <a:srgbClr val="4FBE82"/>
          </a:solidFill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CEFF4"/>
                </a:solidFill>
              </a:rPr>
              <a:t>Full authentication pass: SPF, DKIM and DMARC all verified the sender.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46304" cy="146304"/>
          </a:xfrm>
          <a:prstGeom prst="ellipse">
            <a:avLst/>
          </a:prstGeom>
          <a:solidFill>
            <a:srgbClr val="4FBE82"/>
          </a:solidFill>
        </p:spPr>
      </p:sp>
      <p:sp>
        <p:nvSpPr>
          <p:cNvPr id="7" name="Text 5"/>
          <p:cNvSpPr txBox="1"/>
          <p:nvPr/>
        </p:nvSpPr>
        <p:spPr>
          <a:xfrm>
            <a:off x="960120" y="2670048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CEFF4"/>
                </a:solidFill>
              </a:rPr>
              <a:t>The sending server traced back to Amazon SES, a recognized legitimate email service.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0080" y="3675888"/>
            <a:ext cx="146304" cy="146304"/>
          </a:xfrm>
          <a:prstGeom prst="ellipse">
            <a:avLst/>
          </a:prstGeom>
          <a:solidFill>
            <a:srgbClr val="4FBE82"/>
          </a:solidFill>
        </p:spPr>
      </p:sp>
      <p:sp>
        <p:nvSpPr>
          <p:cNvPr id="9" name="Text 7"/>
          <p:cNvSpPr txBox="1"/>
          <p:nvPr/>
        </p:nvSpPr>
        <p:spPr>
          <a:xfrm>
            <a:off x="960120" y="3511296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CEFF4"/>
                </a:solidFill>
              </a:rPr>
              <a:t>Sender address, reply path, and the link in the email all pointed to the same consistent domain family.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4517136"/>
            <a:ext cx="146304" cy="146304"/>
          </a:xfrm>
          <a:prstGeom prst="ellipse">
            <a:avLst/>
          </a:prstGeom>
          <a:solidFill>
            <a:srgbClr val="4FBE82"/>
          </a:solidFill>
        </p:spPr>
      </p:sp>
      <p:sp>
        <p:nvSpPr>
          <p:cNvPr id="11" name="Text 9"/>
          <p:cNvSpPr txBox="1"/>
          <p:nvPr/>
        </p:nvSpPr>
        <p:spPr>
          <a:xfrm>
            <a:off x="960120" y="4352544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CEFF4"/>
                </a:solidFill>
              </a:rPr>
              <a:t>The link was scanned and came back clean with no malicious indicators.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40080" y="5358384"/>
            <a:ext cx="146304" cy="146304"/>
          </a:xfrm>
          <a:prstGeom prst="ellipse">
            <a:avLst/>
          </a:prstGeom>
          <a:solidFill>
            <a:srgbClr val="4FBE82"/>
          </a:solidFill>
        </p:spPr>
      </p:sp>
      <p:sp>
        <p:nvSpPr>
          <p:cNvPr id="13" name="Text 11"/>
          <p:cNvSpPr txBox="1"/>
          <p:nvPr/>
        </p:nvSpPr>
        <p:spPr>
          <a:xfrm>
            <a:off x="960120" y="5193792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CEFF4"/>
                </a:solidFill>
              </a:rPr>
              <a:t>The tone was calm and personalized — no threats, no countdown, no demand for immediate action.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4A1E1E"/>
          </a:solidFill>
        </p:spPr>
      </p:sp>
      <p:sp>
        <p:nvSpPr>
          <p:cNvPr id="3" name="Shape 1"/>
          <p:cNvSpPr/>
          <p:nvPr/>
        </p:nvSpPr>
        <p:spPr>
          <a:xfrm>
            <a:off x="822960" y="21031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05B5B"/>
          </a:solidFill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FF4"/>
                </a:solidFill>
              </a:rPr>
              <a:t>CASE STUDY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Phishing Email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9875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D4D1"/>
                </a:solidFill>
              </a:rPr>
              <a:t>“Account Recovery: Sign-in and Verify your Amazon account” — an impersonation attempt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the Recipient Saw</a:t>
            </a:r>
            <a:endParaRPr lang="en-US" sz="2800" dirty="0"/>
          </a:p>
        </p:txBody>
      </p:sp>
      <p:pic>
        <p:nvPicPr>
          <p:cNvPr id="4" name="Image 0" descr="/home/claude/report_imgs/1071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354" y="1691640"/>
            <a:ext cx="6810811" cy="44805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686800" y="2194560"/>
            <a:ext cx="2926080" cy="3383280"/>
          </a:xfrm>
          <a:prstGeom prst="roundRect">
            <a:avLst>
              <a:gd name="adj" fmla="val 1875"/>
            </a:avLst>
          </a:prstGeom>
          <a:solidFill>
            <a:srgbClr val="3A1F1F"/>
          </a:solidFill>
          <a:ln w="12700">
            <a:solidFill>
              <a:srgbClr val="E05B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15400" y="237744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B5B"/>
                </a:solidFill>
              </a:rPr>
              <a:t>Red Flags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834640"/>
            <a:ext cx="24688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F4"/>
                </a:solidFill>
              </a:rPr>
              <a:t>• Generic “Dear Customer” greeting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CEFF4"/>
                </a:solidFill>
              </a:rPr>
              <a:t>• Urgency: account “on hold”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CEFF4"/>
                </a:solidFill>
              </a:rPr>
              <a:t>• Pressure to sign in immediately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CEFF4"/>
                </a:solidFill>
              </a:rPr>
              <a:t>• Vague sender, no personalization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Exposed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146304" cy="146304"/>
          </a:xfrm>
          <a:prstGeom prst="ellipse">
            <a:avLst/>
          </a:prstGeom>
          <a:solidFill>
            <a:srgbClr val="E05B5B"/>
          </a:solidFill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EFF4"/>
                </a:solidFill>
              </a:rPr>
              <a:t>Authentication failed: SPF failed and DMARC failed — it did not meet Amazon's real mail security policy.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62072"/>
            <a:ext cx="146304" cy="146304"/>
          </a:xfrm>
          <a:prstGeom prst="ellipse">
            <a:avLst/>
          </a:prstGeom>
          <a:solidFill>
            <a:srgbClr val="E05B5B"/>
          </a:solidFill>
        </p:spPr>
      </p:sp>
      <p:sp>
        <p:nvSpPr>
          <p:cNvPr id="7" name="Text 5"/>
          <p:cNvSpPr txBox="1"/>
          <p:nvPr/>
        </p:nvSpPr>
        <p:spPr>
          <a:xfrm>
            <a:off x="960120" y="269748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EFF4"/>
                </a:solidFill>
              </a:rPr>
              <a:t>The sender claimed “amazon.com,” but internal message details pointed to a completely unrelated domain.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30752"/>
            <a:ext cx="146304" cy="146304"/>
          </a:xfrm>
          <a:prstGeom prst="ellipse">
            <a:avLst/>
          </a:prstGeom>
          <a:solidFill>
            <a:srgbClr val="E05B5B"/>
          </a:solidFill>
        </p:spPr>
      </p:sp>
      <p:sp>
        <p:nvSpPr>
          <p:cNvPr id="9" name="Text 7"/>
          <p:cNvSpPr txBox="1"/>
          <p:nvPr/>
        </p:nvSpPr>
        <p:spPr>
          <a:xfrm>
            <a:off x="960120" y="35661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EFF4"/>
                </a:solidFill>
              </a:rPr>
              <a:t>The email originated from a home internet connection in another country — nothing like Amazon's real infrastructure.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599432"/>
            <a:ext cx="146304" cy="146304"/>
          </a:xfrm>
          <a:prstGeom prst="ellipse">
            <a:avLst/>
          </a:prstGeom>
          <a:solidFill>
            <a:srgbClr val="E05B5B"/>
          </a:solidFill>
        </p:spPr>
      </p:sp>
      <p:sp>
        <p:nvSpPr>
          <p:cNvPr id="11" name="Text 9"/>
          <p:cNvSpPr txBox="1"/>
          <p:nvPr/>
        </p:nvSpPr>
        <p:spPr>
          <a:xfrm>
            <a:off x="960120" y="443484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EFF4"/>
                </a:solidFill>
              </a:rPr>
              <a:t>The “verify your account” link passed through a trusted-looking redirect and a URL shortener before landing on a fake login page.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2 — CONFIRMATION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Final Destination Scan Result</a:t>
            </a:r>
            <a:endParaRPr lang="en-US" sz="2800" dirty="0"/>
          </a:p>
        </p:txBody>
      </p:sp>
      <p:pic>
        <p:nvPicPr>
          <p:cNvPr id="4" name="Image 0" descr="/home/claude/report_imgs/1071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1502" y="1691640"/>
            <a:ext cx="7138516" cy="420624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0C3"/>
                </a:solidFill>
              </a:rPr>
              <a:t>A clean scan of the first link means nothing if the real destination is hidden behind redirects. Tracing the full chain revealed a confirmed phishing page.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THE INBOX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Spotting a Fake Website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9FB0C3"/>
                </a:solidFill>
              </a:rPr>
              <a:t>A convincing email often leads to an equally convincing fake website. The giveaway is almost always in the address bar, not the page design.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3"/>
                </a:solidFill>
              </a:rPr>
              <a:t>What you expect to see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4937760" cy="1188720"/>
          </a:xfrm>
          <a:prstGeom prst="roundRect">
            <a:avLst>
              <a:gd name="adj" fmla="val 3846"/>
            </a:avLst>
          </a:prstGeom>
          <a:solidFill>
            <a:srgbClr val="1A1A1A"/>
          </a:solidFill>
        </p:spPr>
      </p:sp>
      <p:sp>
        <p:nvSpPr>
          <p:cNvPr id="7" name="Shape 5"/>
          <p:cNvSpPr/>
          <p:nvPr/>
        </p:nvSpPr>
        <p:spPr>
          <a:xfrm>
            <a:off x="548640" y="2743200"/>
            <a:ext cx="4937760" cy="411480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8" name="Shape 6"/>
          <p:cNvSpPr/>
          <p:nvPr/>
        </p:nvSpPr>
        <p:spPr>
          <a:xfrm>
            <a:off x="685800" y="2898648"/>
            <a:ext cx="100584" cy="100584"/>
          </a:xfrm>
          <a:prstGeom prst="ellipse">
            <a:avLst/>
          </a:prstGeom>
          <a:solidFill>
            <a:srgbClr val="4A4A4A"/>
          </a:solidFill>
        </p:spPr>
      </p:sp>
      <p:sp>
        <p:nvSpPr>
          <p:cNvPr id="9" name="Shape 7"/>
          <p:cNvSpPr/>
          <p:nvPr/>
        </p:nvSpPr>
        <p:spPr>
          <a:xfrm>
            <a:off x="886968" y="2898648"/>
            <a:ext cx="100584" cy="100584"/>
          </a:xfrm>
          <a:prstGeom prst="ellipse">
            <a:avLst/>
          </a:prstGeom>
          <a:solidFill>
            <a:srgbClr val="4A4A4A"/>
          </a:solidFill>
        </p:spPr>
      </p:sp>
      <p:sp>
        <p:nvSpPr>
          <p:cNvPr id="10" name="Shape 8"/>
          <p:cNvSpPr/>
          <p:nvPr/>
        </p:nvSpPr>
        <p:spPr>
          <a:xfrm>
            <a:off x="1088136" y="2898648"/>
            <a:ext cx="100584" cy="100584"/>
          </a:xfrm>
          <a:prstGeom prst="ellipse">
            <a:avLst/>
          </a:prstGeom>
          <a:solidFill>
            <a:srgbClr val="4A4A4A"/>
          </a:solidFill>
        </p:spPr>
      </p:sp>
      <p:sp>
        <p:nvSpPr>
          <p:cNvPr id="11" name="Shape 9"/>
          <p:cNvSpPr/>
          <p:nvPr/>
        </p:nvSpPr>
        <p:spPr>
          <a:xfrm>
            <a:off x="1417320" y="2816352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11111"/>
          </a:solidFill>
        </p:spPr>
      </p:sp>
      <p:sp>
        <p:nvSpPr>
          <p:cNvPr id="12" name="Text 10"/>
          <p:cNvSpPr txBox="1"/>
          <p:nvPr/>
        </p:nvSpPr>
        <p:spPr>
          <a:xfrm>
            <a:off x="1508760" y="281635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BE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https://www.amazon.com/account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42316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3"/>
                </a:solidFill>
              </a:rPr>
              <a:t>A typosquat impersonating 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4937760" cy="1188720"/>
          </a:xfrm>
          <a:prstGeom prst="roundRect">
            <a:avLst>
              <a:gd name="adj" fmla="val 3846"/>
            </a:avLst>
          </a:prstGeom>
          <a:solidFill>
            <a:srgbClr val="1A1A1A"/>
          </a:solidFill>
        </p:spPr>
      </p:sp>
      <p:sp>
        <p:nvSpPr>
          <p:cNvPr id="15" name="Shape 13"/>
          <p:cNvSpPr/>
          <p:nvPr/>
        </p:nvSpPr>
        <p:spPr>
          <a:xfrm>
            <a:off x="6035040" y="2743200"/>
            <a:ext cx="4937760" cy="411480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16" name="Shape 14"/>
          <p:cNvSpPr/>
          <p:nvPr/>
        </p:nvSpPr>
        <p:spPr>
          <a:xfrm>
            <a:off x="6172200" y="2898648"/>
            <a:ext cx="100584" cy="100584"/>
          </a:xfrm>
          <a:prstGeom prst="ellipse">
            <a:avLst/>
          </a:prstGeom>
          <a:solidFill>
            <a:srgbClr val="4A4A4A"/>
          </a:solidFill>
        </p:spPr>
      </p:sp>
      <p:sp>
        <p:nvSpPr>
          <p:cNvPr id="17" name="Shape 15"/>
          <p:cNvSpPr/>
          <p:nvPr/>
        </p:nvSpPr>
        <p:spPr>
          <a:xfrm>
            <a:off x="6373368" y="2898648"/>
            <a:ext cx="100584" cy="100584"/>
          </a:xfrm>
          <a:prstGeom prst="ellipse">
            <a:avLst/>
          </a:prstGeom>
          <a:solidFill>
            <a:srgbClr val="4A4A4A"/>
          </a:solidFill>
        </p:spPr>
      </p:sp>
      <p:sp>
        <p:nvSpPr>
          <p:cNvPr id="18" name="Shape 16"/>
          <p:cNvSpPr/>
          <p:nvPr/>
        </p:nvSpPr>
        <p:spPr>
          <a:xfrm>
            <a:off x="6574536" y="2898648"/>
            <a:ext cx="100584" cy="100584"/>
          </a:xfrm>
          <a:prstGeom prst="ellipse">
            <a:avLst/>
          </a:prstGeom>
          <a:solidFill>
            <a:srgbClr val="4A4A4A"/>
          </a:solidFill>
        </p:spPr>
      </p:sp>
      <p:sp>
        <p:nvSpPr>
          <p:cNvPr id="19" name="Shape 17"/>
          <p:cNvSpPr/>
          <p:nvPr/>
        </p:nvSpPr>
        <p:spPr>
          <a:xfrm>
            <a:off x="6903720" y="2816352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11111"/>
          </a:solidFill>
        </p:spPr>
      </p:sp>
      <p:sp>
        <p:nvSpPr>
          <p:cNvPr id="20" name="Text 18"/>
          <p:cNvSpPr txBox="1"/>
          <p:nvPr/>
        </p:nvSpPr>
        <p:spPr>
          <a:xfrm>
            <a:off x="6995160" y="281635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B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https://login.servicenotificationes.com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407408"/>
            <a:ext cx="118872" cy="118872"/>
          </a:xfrm>
          <a:prstGeom prst="ellipse">
            <a:avLst/>
          </a:prstGeom>
          <a:solidFill>
            <a:srgbClr val="D4A24C"/>
          </a:solidFill>
        </p:spPr>
      </p:sp>
      <p:sp>
        <p:nvSpPr>
          <p:cNvPr id="22" name="Text 20"/>
          <p:cNvSpPr txBox="1"/>
          <p:nvPr/>
        </p:nvSpPr>
        <p:spPr>
          <a:xfrm>
            <a:off x="868680" y="4270248"/>
            <a:ext cx="10241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FF4"/>
                </a:solidFill>
              </a:rPr>
              <a:t>Read the domain carefully — misspellings, extra words, or unusual endings (.xyz, .top, .info).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4892040"/>
            <a:ext cx="118872" cy="118872"/>
          </a:xfrm>
          <a:prstGeom prst="ellipse">
            <a:avLst/>
          </a:prstGeom>
          <a:solidFill>
            <a:srgbClr val="D4A24C"/>
          </a:solidFill>
        </p:spPr>
      </p:sp>
      <p:sp>
        <p:nvSpPr>
          <p:cNvPr id="24" name="Text 22"/>
          <p:cNvSpPr txBox="1"/>
          <p:nvPr/>
        </p:nvSpPr>
        <p:spPr>
          <a:xfrm>
            <a:off x="868680" y="4754880"/>
            <a:ext cx="10241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FF4"/>
                </a:solidFill>
              </a:rPr>
              <a:t>Watch for typosquatting — “arnazon.com,” “amaz0n-login.com,” or a brand name tacked onto an unrelated domain.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5376672"/>
            <a:ext cx="118872" cy="118872"/>
          </a:xfrm>
          <a:prstGeom prst="ellipse">
            <a:avLst/>
          </a:prstGeom>
          <a:solidFill>
            <a:srgbClr val="D4A24C"/>
          </a:solidFill>
        </p:spPr>
      </p:sp>
      <p:sp>
        <p:nvSpPr>
          <p:cNvPr id="26" name="Text 24"/>
          <p:cNvSpPr txBox="1"/>
          <p:nvPr/>
        </p:nvSpPr>
        <p:spPr>
          <a:xfrm>
            <a:off x="868680" y="5239512"/>
            <a:ext cx="10241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FF4"/>
                </a:solidFill>
              </a:rPr>
              <a:t>A padlock icon only means the connection is encrypted — it does not mean the site is legitimate.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4360" y="5861304"/>
            <a:ext cx="118872" cy="118872"/>
          </a:xfrm>
          <a:prstGeom prst="ellipse">
            <a:avLst/>
          </a:prstGeom>
          <a:solidFill>
            <a:srgbClr val="D4A24C"/>
          </a:solidFill>
        </p:spPr>
      </p:sp>
      <p:sp>
        <p:nvSpPr>
          <p:cNvPr id="28" name="Text 26"/>
          <p:cNvSpPr txBox="1"/>
          <p:nvPr/>
        </p:nvSpPr>
        <p:spPr>
          <a:xfrm>
            <a:off x="868680" y="5724144"/>
            <a:ext cx="10241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FF4"/>
                </a:solidFill>
              </a:rPr>
              <a:t>When in doubt, don't click through — type the address you already know directly into the browser.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PUTTING IT INTO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32588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Verify independently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Go directly to the official app or website rather than clicking a link in an unexpected email.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5120640" cy="132588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92024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Enable MFA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331720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Multi-factor authentication means a stolen password alone isn't enough to grant access.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120640" cy="132588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7472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Never enter credentials via email links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86200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Only log in through a page you navigated to directly.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337560"/>
            <a:ext cx="5120640" cy="132588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347472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Report suspicious emails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886200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Flagging to IT/security protects others too, not just you.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120640" cy="132588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0292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Verify through a separate channel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40680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Call the company or person directly if a request feels off.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4892040"/>
            <a:ext cx="5120640" cy="1325880"/>
          </a:xfrm>
          <a:prstGeom prst="rect">
            <a:avLst/>
          </a:prstGeom>
          <a:solidFill>
            <a:srgbClr val="13233A"/>
          </a:solidFill>
          <a:ln w="12700">
            <a:solidFill>
              <a:srgbClr val="2239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50292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2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Practice regularly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5440680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</a:rPr>
              <a:t>Recognizing red flags gets sharper with repetition, not a single read-through.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Quick Quiz — Part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FF4"/>
                </a:solidFill>
              </a:rPr>
              <a:t>1. Which is a social engineering tactic used in phishing?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1A3A2C"/>
          </a:solidFill>
          <a:ln w="12700">
            <a:solidFill>
              <a:srgbClr val="4FBE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9875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BE82"/>
                </a:solidFill>
              </a:rPr>
              <a:t>Creating a sense of urgency or fear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FF4"/>
                </a:solidFill>
              </a:rPr>
              <a:t>2. In Case Study 1, what was true?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1A3A2C"/>
          </a:solidFill>
          <a:ln w="12700">
            <a:solidFill>
              <a:srgbClr val="4FBE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37560"/>
            <a:ext cx="9875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BE82"/>
                </a:solidFill>
              </a:rPr>
              <a:t>SPF, DKIM and DMARC all passed on a recognized legitimate provider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FF4"/>
                </a:solidFill>
              </a:rPr>
              <a:t>3. How did the attacker hide the phishing link's destination?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1A3A2C"/>
          </a:solidFill>
          <a:ln w="12700">
            <a:solidFill>
              <a:srgbClr val="4FBE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434840"/>
            <a:ext cx="9875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BE82"/>
                </a:solidFill>
              </a:rPr>
              <a:t>Chained it through a trusted-looking redirect and a URL shortener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FF4"/>
                </a:solidFill>
              </a:rPr>
              <a:t>4. What's a sign a website might be fake?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1A3A2C"/>
          </a:solidFill>
          <a:ln w="12700">
            <a:solidFill>
              <a:srgbClr val="4FBE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532120"/>
            <a:ext cx="9875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BE82"/>
                </a:solidFill>
              </a:rPr>
              <a:t>The URL is slightly misspelled or uses an unusual domain ending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Quick Quiz — Part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FF4"/>
                </a:solidFill>
              </a:rPr>
              <a:t>5. What should you do if asked to “verify your account” via a link?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1A3A2C"/>
          </a:solidFill>
          <a:ln w="12700">
            <a:solidFill>
              <a:srgbClr val="4FBE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9875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BE82"/>
                </a:solidFill>
              </a:rPr>
              <a:t>Go directly to the official app or website instead of clicking the link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FF4"/>
                </a:solidFill>
              </a:rPr>
              <a:t>6. Why isn't hovering over a link always enough?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1A3A2C"/>
          </a:solidFill>
          <a:ln w="12700">
            <a:solidFill>
              <a:srgbClr val="4FBE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657600"/>
            <a:ext cx="9875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BE82"/>
                </a:solidFill>
              </a:rPr>
              <a:t>Links can redirect through multiple hops before the final destination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FF4"/>
                </a:solidFill>
              </a:rPr>
              <a:t>7. Strongest protection if your password is stolen via phishing?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1A3A2C"/>
          </a:solidFill>
          <a:ln w="12700">
            <a:solidFill>
              <a:srgbClr val="4FBE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937760"/>
            <a:ext cx="9875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BE82"/>
                </a:solidFill>
              </a:rPr>
              <a:t>Multi-factor authentication (MFA)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3233A"/>
          </a:solidFill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3233A"/>
          </a:solidFill>
        </p:spPr>
      </p:sp>
      <p:sp>
        <p:nvSpPr>
          <p:cNvPr id="4" name="Text 2"/>
          <p:cNvSpPr txBox="1"/>
          <p:nvPr/>
        </p:nvSpPr>
        <p:spPr>
          <a:xfrm>
            <a:off x="822960" y="2560320"/>
            <a:ext cx="9601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EF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Stay Alert. Verify First.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A24C"/>
                </a:solidFill>
              </a:rPr>
              <a:t>Thank you — questions and discussion welcome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3"/>
                </a:solidFill>
              </a:rPr>
              <a:t>Omoneka Philomena Ekhaizor  ·  Phishing Awareness Training  ·  CodeAlpha Cybersecurity Internship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5398</Words>
  <Application>WPS Presentation</Application>
  <PresentationFormat>On-screen Show (16:9)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Neka Philzz Ekhaizor</cp:lastModifiedBy>
  <cp:revision>3</cp:revision>
  <dcterms:created xsi:type="dcterms:W3CDTF">2026-10-06T08:10:00Z</dcterms:created>
  <dcterms:modified xsi:type="dcterms:W3CDTF">2026-10-09T12:35:47Z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C730C33D14554C08B8BF098DD94A15D2_12</vt:lpwstr>
  </property>
</Properties>
</file>